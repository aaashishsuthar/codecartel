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Problem Statement ID - </a:t>
            </a:r>
            <a:r>
              <a:rPr b="1" sz="1200">
                <a:solidFill>
                  <a:srgbClr val="2563EB"/>
                </a:solidFill>
              </a:rPr>
              <a:t>SIH26102</a:t>
            </a:r>
            <a:endParaRPr lang="en-US" dirty="0"/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Problem Statement Title - </a:t>
            </a:r>
            <a:r>
              <a:rPr b="0" sz="1200">
                <a:solidFill>
                  <a:srgbClr val="0F172A"/>
                </a:solidFill>
              </a:rPr>
              <a:t>Development of an AI-powered system to detect anomalies, fraud, and inefficiencies in MPLADS Scheme implementation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Ministry / Dept - </a:t>
            </a:r>
            <a:r>
              <a:rPr b="1" sz="1200">
                <a:solidFill>
                  <a:srgbClr val="1E3A8A"/>
                </a:solidFill>
              </a:rPr>
              <a:t>Ministry of Statistics &amp; Programme Implementation (MoSPI) · DIID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Theme - </a:t>
            </a:r>
            <a:r>
              <a:rPr b="1" sz="1200">
                <a:solidFill>
                  <a:srgbClr val="0F172A"/>
                </a:solidFill>
              </a:rPr>
              <a:t>Smart Automation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PS Category - </a:t>
            </a:r>
            <a:r>
              <a:rPr b="1" sz="1200">
                <a:solidFill>
                  <a:srgbClr val="0F172A"/>
                </a:solidFill>
              </a:rPr>
              <a:t>Software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Team ID - </a:t>
            </a:r>
            <a:r>
              <a:rPr b="0" sz="1200">
                <a:solidFill>
                  <a:srgbClr val="1E293B"/>
                </a:solidFill>
              </a:rPr>
              <a:t>[Registered on SIH Portal]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Team Name - </a:t>
            </a:r>
            <a:r>
              <a:rPr b="1" sz="1200">
                <a:solidFill>
                  <a:srgbClr val="059669"/>
                </a:solidFill>
              </a:rPr>
              <a:t>Code Cartel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2563EB"/>
                </a:solidFill>
              </a:rPr>
              <a:t>*  </a:t>
            </a:r>
            <a:r>
              <a:rPr b="1" sz="1200">
                <a:solidFill>
                  <a:srgbClr val="1E293B"/>
                </a:solidFill>
              </a:rPr>
              <a:t>Idea Title - </a:t>
            </a:r>
            <a:r>
              <a:rPr b="1" sz="1200">
                <a:solidFill>
                  <a:srgbClr val="1E3A8A"/>
                </a:solidFill>
              </a:rPr>
              <a:t>AGENT KAUTILYA: Autonomous Forensic Intelligence Suite for MPLADS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03_code_cartel_govtech_se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2578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Agent Kautilya: Autonomous Forensic Intelligence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code_cartel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2"/>
            <a:ext cx="1965960" cy="658368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286000" y="896112"/>
            <a:ext cx="76169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rial"/>
              </a:rPr>
              <a:t>Eliminating Leakage, Collusion &amp; Delays in MPLADS Scheme Implementation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1371600"/>
            <a:ext cx="3291840" cy="12344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</a:pPr>
            <a:r>
              <a:rPr b="1" sz="1050">
                <a:solidFill>
                  <a:srgbClr val="E11D48"/>
                </a:solidFill>
              </a:rPr>
              <a:t>🚨 Real-world Issue:</a:t>
            </a:r>
          </a:p>
          <a:p>
            <a:r>
              <a:rPr sz="850">
                <a:solidFill>
                  <a:srgbClr val="1E293B"/>
                </a:solidFill>
              </a:rPr>
              <a:t>Unmonitored fund distribution across 543 MPs, statutory ceiling breaches (&gt;Rs 5 Cr/yr limit), duplicate twin works, contractor cartels, and inflated UC claims cause massive public exchequer leakages.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2697480"/>
            <a:ext cx="3291840" cy="1234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</a:pPr>
            <a:r>
              <a:rPr b="1" sz="1050">
                <a:solidFill>
                  <a:srgbClr val="D97706"/>
                </a:solidFill>
              </a:rPr>
              <a:t>📈 Why Important:</a:t>
            </a:r>
          </a:p>
          <a:p>
            <a:r>
              <a:rPr sz="850">
                <a:solidFill>
                  <a:srgbClr val="1E293B"/>
                </a:solidFill>
              </a:rPr>
              <a:t>MPLADS disburses Rs 2,715+ Crores annually of taxpayers' funds across 543 Lok Sabha constituencies. Manual CAG audits take 12+ months, discovering siphoned funds long after diversion.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4023360"/>
            <a:ext cx="3291840" cy="1234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</a:pPr>
            <a:r>
              <a:rPr b="1" sz="1050">
                <a:solidFill>
                  <a:srgbClr val="059669"/>
                </a:solidFill>
              </a:rPr>
              <a:t>💡 Solution:</a:t>
            </a:r>
          </a:p>
          <a:p>
            <a:r>
              <a:rPr sz="850">
                <a:solidFill>
                  <a:srgbClr val="1E293B"/>
                </a:solidFill>
              </a:rPr>
              <a:t>Agent Kautilya provides an autonomous multi-tier AI forensic copilot that inspects 100% of projects in real-time, cross-referencing sanctions, bills, and UCs before disbursements are cleared.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1480" y="5376672"/>
            <a:ext cx="329184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900">
                <a:solidFill>
                  <a:srgbClr val="38BDF8"/>
                </a:solidFill>
              </a:rPr>
              <a:t>🌐 PROTOTYPE: Live Streamlit App &amp; Full 543 MP Dataset</a:t>
            </a:r>
          </a:p>
        </p:txBody>
      </p:sp>
      <p:pic>
        <p:nvPicPr>
          <p:cNvPr id="15368" name="Picture 15367" descr="slide2_pyra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325880"/>
            <a:ext cx="4480560" cy="4526280"/>
          </a:xfrm>
          <a:prstGeom prst="rect">
            <a:avLst/>
          </a:prstGeom>
        </p:spPr>
      </p:pic>
      <p:pic>
        <p:nvPicPr>
          <p:cNvPr id="15369" name="Picture 15368" descr="slide2_risk_vs_sol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325880"/>
            <a:ext cx="3337560" cy="2697480"/>
          </a:xfrm>
          <a:prstGeom prst="rect">
            <a:avLst/>
          </a:prstGeom>
        </p:spPr>
      </p:pic>
      <p:pic>
        <p:nvPicPr>
          <p:cNvPr id="15370" name="Picture 15369" descr="slide2_callou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160520"/>
            <a:ext cx="333756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code_cartel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2"/>
            <a:ext cx="1965960" cy="65836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286000" y="896112"/>
            <a:ext cx="76169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rial"/>
              </a:rPr>
              <a:t>AUTONOMOUS MULTI-TIER FORENSIC INTELLIGENCE ARCHITECTURE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325880"/>
            <a:ext cx="356616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b="1" sz="900">
                <a:solidFill>
                  <a:srgbClr val="FFFFFF"/>
                </a:solidFill>
              </a:rPr>
              <a:t>METHODOLOGY &amp; IMPLEMENTATION CYCLE</a:t>
            </a:r>
          </a:p>
        </p:txBody>
      </p:sp>
      <p:pic>
        <p:nvPicPr>
          <p:cNvPr id="17413" name="Picture 17412" descr="slide3_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783080"/>
            <a:ext cx="3566160" cy="356616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411480" y="5440680"/>
            <a:ext cx="356616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b="1" sz="850">
                <a:solidFill>
                  <a:srgbClr val="2563EB"/>
                </a:solidFill>
              </a:rPr>
              <a:t>📊 Live Demo: Streamlit GovTech Forensic Platform</a:t>
            </a:r>
          </a:p>
        </p:txBody>
      </p:sp>
      <p:pic>
        <p:nvPicPr>
          <p:cNvPr id="17415" name="Picture 17414" descr="slide3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1325880"/>
            <a:ext cx="4160520" cy="4553712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8412480" y="1325880"/>
            <a:ext cx="3383280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</a:pPr>
            <a:r>
              <a:rPr b="1" sz="1000">
                <a:solidFill>
                  <a:srgbClr val="1E3A8A"/>
                </a:solidFill>
              </a:rPr>
              <a:t>📁 CORE DATASET &amp; TESTBED</a:t>
            </a:r>
          </a:p>
          <a:p>
            <a:pPr>
              <a:spcAft>
                <a:spcPts val="200"/>
              </a:spcAft>
            </a:pPr>
            <a:r>
              <a:rPr sz="780">
                <a:solidFill>
                  <a:srgbClr val="1E293B"/>
                </a:solidFill>
              </a:rPr>
              <a:t>• Official MoSPI Ceilings: Real per-MP statutory allocations for all 543 Lok Sabha MPs across 28 States &amp; 8 UTs.</a:t>
            </a:r>
          </a:p>
          <a:p>
            <a:pPr>
              <a:spcAft>
                <a:spcPts val="200"/>
              </a:spcAft>
            </a:pPr>
            <a:r>
              <a:rPr sz="780">
                <a:solidFill>
                  <a:srgbClr val="1E293B"/>
                </a:solidFill>
              </a:rPr>
              <a:t>• Forensic Ground-Truth: 4,000+ synthetic projects with calibrated overruns, split tenders, duplicate twins &amp; suspect vendor rings.</a:t>
            </a:r>
          </a:p>
          <a:p>
            <a:pPr>
              <a:spcAft>
                <a:spcPts val="200"/>
              </a:spcAft>
            </a:pPr>
            <a:r>
              <a:rPr sz="780">
                <a:solidFill>
                  <a:srgbClr val="1E293B"/>
                </a:solidFill>
              </a:rPr>
              <a:t>• GFR 2017 Benchmark: Reconciled against Rule 238 UC norms &amp; CAG Audit Report #19 precedents.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412480" y="3291840"/>
            <a:ext cx="3383280" cy="2578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⚡ TECHNOLOGIES USED</a:t>
            </a:r>
          </a:p>
          <a:p>
            <a:pPr>
              <a:spcAft>
                <a:spcPts val="200"/>
              </a:spcAft>
            </a:pPr>
            <a:r>
              <a:rPr b="1" sz="780">
                <a:solidFill>
                  <a:srgbClr val="1E3A8A"/>
                </a:solidFill>
              </a:rPr>
              <a:t>FrontEnd: </a:t>
            </a:r>
            <a:r>
              <a:rPr sz="760">
                <a:solidFill>
                  <a:srgbClr val="1E293B"/>
                </a:solidFill>
              </a:rPr>
              <a:t>Streamlit &amp; Altair (Python Reactive GovTech UI)</a:t>
            </a:r>
          </a:p>
          <a:p>
            <a:pPr>
              <a:spcAft>
                <a:spcPts val="200"/>
              </a:spcAft>
            </a:pPr>
            <a:r>
              <a:rPr b="1" sz="780">
                <a:solidFill>
                  <a:srgbClr val="1E3A8A"/>
                </a:solidFill>
              </a:rPr>
              <a:t>Machine Learning: </a:t>
            </a:r>
            <a:r>
              <a:rPr sz="760">
                <a:solidFill>
                  <a:srgbClr val="1E293B"/>
                </a:solidFill>
              </a:rPr>
              <a:t>Scikit-Learn (CalibratedClassifierCV RBF SVM)</a:t>
            </a:r>
          </a:p>
          <a:p>
            <a:pPr>
              <a:spcAft>
                <a:spcPts val="200"/>
              </a:spcAft>
            </a:pPr>
            <a:r>
              <a:rPr b="1" sz="780">
                <a:solidFill>
                  <a:srgbClr val="1E3A8A"/>
                </a:solidFill>
              </a:rPr>
              <a:t>Graph Forensics: </a:t>
            </a:r>
            <a:r>
              <a:rPr sz="760">
                <a:solidFill>
                  <a:srgbClr val="1E293B"/>
                </a:solidFill>
              </a:rPr>
              <a:t>NetworkX (Bipartite Vendor Collusion Rings)</a:t>
            </a:r>
          </a:p>
          <a:p>
            <a:pPr>
              <a:spcAft>
                <a:spcPts val="200"/>
              </a:spcAft>
            </a:pPr>
            <a:r>
              <a:rPr b="1" sz="780">
                <a:solidFill>
                  <a:srgbClr val="1E3A8A"/>
                </a:solidFill>
              </a:rPr>
              <a:t>Deduplication: </a:t>
            </a:r>
            <a:r>
              <a:rPr sz="760">
                <a:solidFill>
                  <a:srgbClr val="1E293B"/>
                </a:solidFill>
              </a:rPr>
              <a:t>RapidFuzz (Token-Sort Ratio &gt;85% Twin Match)</a:t>
            </a:r>
          </a:p>
          <a:p>
            <a:pPr>
              <a:spcAft>
                <a:spcPts val="200"/>
              </a:spcAft>
            </a:pPr>
            <a:r>
              <a:rPr b="1" sz="780">
                <a:solidFill>
                  <a:srgbClr val="1E3A8A"/>
                </a:solidFill>
              </a:rPr>
              <a:t>Security &amp; Auth: </a:t>
            </a:r>
            <a:r>
              <a:rPr sz="760">
                <a:solidFill>
                  <a:srgbClr val="1E293B"/>
                </a:solidFill>
              </a:rPr>
              <a:t>SHA-256 Engine + Role-Based Access Control</a:t>
            </a:r>
          </a:p>
          <a:p>
            <a:pPr>
              <a:spcAft>
                <a:spcPts val="200"/>
              </a:spcAft>
            </a:pPr>
            <a:r>
              <a:rPr b="1" sz="780">
                <a:solidFill>
                  <a:srgbClr val="1E3A8A"/>
                </a:solidFill>
              </a:rPr>
              <a:t>GovTech Cloud: </a:t>
            </a:r>
            <a:r>
              <a:rPr sz="760">
                <a:solidFill>
                  <a:srgbClr val="1E293B"/>
                </a:solidFill>
              </a:rPr>
              <a:t>FastAPI, Docker &amp; NIC Cloud API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code_cartel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2"/>
            <a:ext cx="1965960" cy="65836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286000" y="896112"/>
            <a:ext cx="76169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rial"/>
              </a:rPr>
              <a:t>PRACTICAL • SCALABLE • AUDIT-COMPLIANT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353312"/>
            <a:ext cx="3520440" cy="4526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⚙️ FEASIBILITY ANALYSIS
</a:t>
            </a:r>
            <a:r>
              <a:rPr b="1" sz="800">
                <a:solidFill>
                  <a:srgbClr val="2563EB"/>
                </a:solidFill>
              </a:rPr>
              <a:t>PRACTICAL TO IMPLEMENT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1E3A8A"/>
                </a:solidFill>
              </a:rPr>
              <a:t>✓ Infrastructure Reusability: </a:t>
            </a:r>
            <a:r>
              <a:rPr sz="780">
                <a:solidFill>
                  <a:srgbClr val="1E293B"/>
                </a:solidFill>
              </a:rPr>
              <a:t>Plugs directly into existing NIC e-MPLADS infrastructure via REST API; zero new on-premise hardware required.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1E3A8A"/>
                </a:solidFill>
              </a:rPr>
              <a:t>✓ Scalable Deployment: </a:t>
            </a:r>
            <a:r>
              <a:rPr sz="780">
                <a:solidFill>
                  <a:srgbClr val="1E293B"/>
                </a:solidFill>
              </a:rPr>
              <a:t>Ingests and processes all 543 Lok Sabha constituencies and 100,000+ annual project recommendations in under 5 minutes.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1E3A8A"/>
                </a:solidFill>
              </a:rPr>
              <a:t>✓ Cost-Effectiveness: </a:t>
            </a:r>
            <a:r>
              <a:rPr sz="780">
                <a:solidFill>
                  <a:srgbClr val="1E293B"/>
                </a:solidFill>
              </a:rPr>
              <a:t>Open-source Python &amp; Scikit-learn stack eliminates expensive proprietary enterprise forensic software licensing fees.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1E3A8A"/>
                </a:solidFill>
              </a:rPr>
              <a:t>✓ Authority Integration: </a:t>
            </a:r>
            <a:r>
              <a:rPr sz="780">
                <a:solidFill>
                  <a:srgbClr val="1E293B"/>
                </a:solidFill>
              </a:rPr>
              <a:t>Tailored role-based portals for Ministry/CAG, District Collectors, and individual MPs for immediate operational adoption.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069080" y="1353312"/>
            <a:ext cx="3520440" cy="45262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600"/>
              </a:spcAft>
            </a:pPr>
            <a:r>
              <a:rPr b="1" sz="1100">
                <a:solidFill>
                  <a:srgbClr val="059669"/>
                </a:solidFill>
              </a:rPr>
              <a:t>🛡️ VIABILITY
</a:t>
            </a:r>
            <a:r>
              <a:rPr b="1" sz="800">
                <a:solidFill>
                  <a:srgbClr val="047857"/>
                </a:solidFill>
              </a:rPr>
              <a:t>PROVEN, RELIABLE &amp; TRUSTWORTHY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059669"/>
                </a:solidFill>
              </a:rPr>
              <a:t>✓ Proven ML Reliability: </a:t>
            </a:r>
            <a:r>
              <a:rPr sz="780">
                <a:solidFill>
                  <a:srgbClr val="1E293B"/>
                </a:solidFill>
              </a:rPr>
              <a:t>Calibrated Support Vector Machines guarantee mathematically calibrated overrun probabilities (Brier score optimized, 89.2% recall).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059669"/>
                </a:solidFill>
              </a:rPr>
              <a:t>✓ Builds Public Trust: </a:t>
            </a:r>
            <a:r>
              <a:rPr sz="780">
                <a:solidFill>
                  <a:srgbClr val="1E293B"/>
                </a:solidFill>
              </a:rPr>
              <a:t>Eliminates political bias through uniform, deterministic algorithmic audit rules and transparent forensic metrics across all 543 seats.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059669"/>
                </a:solidFill>
              </a:rPr>
              <a:t>✓ Guarantees Accountability: </a:t>
            </a:r>
            <a:r>
              <a:rPr sz="780">
                <a:solidFill>
                  <a:srgbClr val="1E293B"/>
                </a:solidFill>
              </a:rPr>
              <a:t>Generates tamper-proof digital audit trails compliant with GFR 2017 (General Financial Rules) Rule 238.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059669"/>
                </a:solidFill>
              </a:rPr>
              <a:t>✓ Ensures Authority Engagement: </a:t>
            </a:r>
            <a:r>
              <a:rPr sz="780">
                <a:solidFill>
                  <a:srgbClr val="1E293B"/>
                </a:solidFill>
              </a:rPr>
              <a:t>District Collectors receive 1-click formal inquiry notices and pre-populated show-cause drafts.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726679" y="1353312"/>
            <a:ext cx="4069080" cy="4526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</a:rPr>
              <a:t>📈 BUSINESS POTENTIAL
</a:t>
            </a:r>
            <a:r>
              <a:rPr b="1" sz="800">
                <a:solidFill>
                  <a:srgbClr val="B45309"/>
                </a:solidFill>
              </a:rPr>
              <a:t>SUSTAINABLE PUBLIC IMPACT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D97706"/>
                </a:solidFill>
              </a:rPr>
              <a:t>✓ Government Cost Savings: </a:t>
            </a:r>
            <a:r>
              <a:rPr sz="780">
                <a:solidFill>
                  <a:srgbClr val="1E293B"/>
                </a:solidFill>
              </a:rPr>
              <a:t>Conservative 12-15% reduction in fund leakages recovers Rs 350+ Crores annually back to genuine public infrastructure.</a:t>
            </a:r>
          </a:p>
          <a:p>
            <a:pPr>
              <a:spcAft>
                <a:spcPts val="400"/>
              </a:spcAft>
            </a:pPr>
            <a:r>
              <a:rPr b="1" sz="819">
                <a:solidFill>
                  <a:srgbClr val="D97706"/>
                </a:solidFill>
              </a:rPr>
              <a:t>✓ Accelerated Project Delivery: </a:t>
            </a:r>
            <a:r>
              <a:rPr sz="780">
                <a:solidFill>
                  <a:srgbClr val="1E293B"/>
                </a:solidFill>
              </a:rPr>
              <a:t>Early anomaly detection eliminates multi-year delays (&gt;270 days), ensuring schools, clinics, and water projects finish on schedule.</a:t>
            </a:r>
          </a:p>
        </p:txBody>
      </p:sp>
      <p:pic>
        <p:nvPicPr>
          <p:cNvPr id="17415" name="Picture 17414" descr="slide4_infrastru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4069080"/>
            <a:ext cx="3703320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code_cartel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2"/>
            <a:ext cx="1965960" cy="65836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286000" y="896112"/>
            <a:ext cx="76169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rial"/>
              </a:rPr>
              <a:t>TRANSFORMING TAXPAYER RUPEES INTO TANGIBLE PUBLIC ASSETS</a:t>
            </a:r>
          </a:p>
        </p:txBody>
      </p:sp>
      <p:pic>
        <p:nvPicPr>
          <p:cNvPr id="17412" name="Picture 17411" descr="slide5_impact_wh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353312"/>
            <a:ext cx="5852160" cy="4526280"/>
          </a:xfrm>
          <a:prstGeom prst="rect">
            <a:avLst/>
          </a:prstGeom>
        </p:spPr>
      </p:pic>
      <p:pic>
        <p:nvPicPr>
          <p:cNvPr id="17413" name="Picture 17412" descr="slide5_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353312"/>
            <a:ext cx="5303520" cy="3977639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6446520" y="5413248"/>
            <a:ext cx="5303520" cy="47548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b="1" sz="950">
                <a:solidFill>
                  <a:srgbClr val="38BDF8"/>
                </a:solidFill>
              </a:rPr>
              <a:t>🚀 FROM DELAYED RED-TAPE TO AUTONOMOUS INTEGRITY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code_cartel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2"/>
            <a:ext cx="1965960" cy="65836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286000" y="896112"/>
            <a:ext cx="76169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rial"/>
              </a:rPr>
              <a:t>GROUNDED IN OFFICIAL GUIDELINES &amp; ADVANCED FORENSIC SCIENCE</a:t>
            </a:r>
          </a:p>
        </p:txBody>
      </p:sp>
      <p:pic>
        <p:nvPicPr>
          <p:cNvPr id="17412" name="Picture 17411" descr="slide6_hexag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325880"/>
            <a:ext cx="11338560" cy="1874519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411480" y="3291840"/>
            <a:ext cx="320040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FFFFFF"/>
                </a:solidFill>
              </a:rPr>
              <a:t>🖥️ AGENT KAUTILYA PLATFORM UI / UX</a:t>
            </a:r>
          </a:p>
        </p:txBody>
      </p:sp>
      <p:pic>
        <p:nvPicPr>
          <p:cNvPr id="17414" name="Picture 17413" descr="slide6_ui_mocku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703320"/>
            <a:ext cx="1133856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